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2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56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D355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Executing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828800" y="3611880"/>
            <a:ext cx="1691640" cy="38404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611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90 min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49040" y="3611880"/>
            <a:ext cx="1691640" cy="384048"/>
          </a:xfrm>
          <a:prstGeom prst="rect">
            <a:avLst/>
          </a:prstGeom>
          <a:solidFill>
            <a:srgbClr val="1E6C3A"/>
          </a:solidFill>
          <a:ln w="12700">
            <a:solidFill>
              <a:srgbClr val="1E6C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3611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Hands-On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611880"/>
            <a:ext cx="1691640" cy="384048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3611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Sameer Farooq  |  KR Mangalam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 — 90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60120"/>
            <a:ext cx="8631936" cy="603504"/>
          </a:xfrm>
          <a:prstGeom prst="rect">
            <a:avLst/>
          </a:prstGeom>
          <a:solidFill>
            <a:srgbClr val="1A2840"/>
          </a:solidFill>
          <a:ln w="12700">
            <a:solidFill>
              <a:srgbClr val="4B8B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73152" cy="603504"/>
          </a:xfrm>
          <a:prstGeom prst="rect">
            <a:avLst/>
          </a:prstGeom>
          <a:solidFill>
            <a:srgbClr val="4B8BB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0–10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06984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636776"/>
            <a:ext cx="8631936" cy="603504"/>
          </a:xfrm>
          <a:prstGeom prst="rect">
            <a:avLst/>
          </a:prstGeom>
          <a:solidFill>
            <a:srgbClr val="1A284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36776"/>
            <a:ext cx="73152" cy="6035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465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10–25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74650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Scripts: Comments, Variables, I/O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2313432"/>
            <a:ext cx="8631936" cy="603504"/>
          </a:xfrm>
          <a:prstGeom prst="rect">
            <a:avLst/>
          </a:prstGeom>
          <a:solidFill>
            <a:srgbClr val="1A2840"/>
          </a:solidFill>
          <a:ln w="12700">
            <a:solidFill>
              <a:srgbClr val="FFD4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13432"/>
            <a:ext cx="73152" cy="60350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23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25–40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4231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Expressions &amp; Strings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" y="2990088"/>
            <a:ext cx="8631936" cy="603504"/>
          </a:xfrm>
          <a:prstGeom prst="rect">
            <a:avLst/>
          </a:prstGeom>
          <a:solidFill>
            <a:srgbClr val="1A2840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90088"/>
            <a:ext cx="73152" cy="6035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99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40–60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09981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if/elif/else, loops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" y="3666744"/>
            <a:ext cx="8631936" cy="603504"/>
          </a:xfrm>
          <a:prstGeom prst="rect">
            <a:avLst/>
          </a:prstGeom>
          <a:solidFill>
            <a:srgbClr val="1A284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66744"/>
            <a:ext cx="73152" cy="60350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76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60–75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7764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Define, Call, Return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" y="4343400"/>
            <a:ext cx="8631936" cy="603504"/>
          </a:xfrm>
          <a:prstGeom prst="rect">
            <a:avLst/>
          </a:prstGeom>
          <a:solidFill>
            <a:srgbClr val="1A2840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343400"/>
            <a:ext cx="73152" cy="6035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453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75–90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4531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a Mini Calculator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script is a plain text file with a .py extension. Structure matters!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512064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51206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3502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" y="1581912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python3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student_info.py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 : Alice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Purpose: Show student record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Imports 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Constants 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MAX_SCORE = 100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Main Logic 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"Alice"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score / MAX_SCORE * 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print(f"{name}: {grade:.1f}%")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435608"/>
            <a:ext cx="137160" cy="219456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Shebang (optional)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1627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OS which Python to use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1929384"/>
            <a:ext cx="137160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938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documentation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2734056"/>
            <a:ext cx="137160" cy="21945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statement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87568" y="2926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external modules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3172968"/>
            <a:ext cx="137160" cy="21945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87568" y="3364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UPPER_CASE by convention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3648456"/>
            <a:ext cx="137160" cy="219456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3657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87568" y="3840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naming style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0" y="4306824"/>
            <a:ext cx="13716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4315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87568" y="4498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string literals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Variables &amp; Naming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114800" cy="1920240"/>
          </a:xfrm>
          <a:prstGeom prst="rect">
            <a:avLst/>
          </a:prstGeom>
          <a:solidFill>
            <a:srgbClr val="1A2840"/>
          </a:solidFill>
          <a:ln w="12700">
            <a:solidFill>
              <a:srgbClr val="4B8B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986784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398678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4538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538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447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Single-line comment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Multi-line comment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(docstring style)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315968" cy="1920240"/>
          </a:xfrm>
          <a:prstGeom prst="rect">
            <a:avLst/>
          </a:prstGeom>
          <a:solidFill>
            <a:srgbClr val="1A284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9875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Naming Conventions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389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snake_case (preferred)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682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682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Constants in UPPER_CASE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StudentClass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1975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Classes use PascalCase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267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start with digit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my-var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hyphens allowed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Assignment Patterns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" y="3337560"/>
            <a:ext cx="8631936" cy="1581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337560"/>
            <a:ext cx="863193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1985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41985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341985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4107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3192" y="3657600"/>
            <a:ext cx="83576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            # basic assignment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= 1, 2, 3         # multiple assignment (unpacking)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city = "KL"        # chained assignment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y, x               # SWAP values — no temp variable needed!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count + 1         # or:  count += 1  (augmented assignment)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&amp; Output — input() and print()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206240" cy="4023360"/>
          </a:xfrm>
          <a:prstGeom prst="rect">
            <a:avLst/>
          </a:prstGeom>
          <a:solidFill>
            <a:srgbClr val="1A284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78224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07822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4996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996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14996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9047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38039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print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values (sep=)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print("Name:", "Alice", sep=" → 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Name: → Alice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newline (end=)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print("A", end="")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print("B")    # Output: AB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f-strings (best practice)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score = "Ali", 95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print(f"{name} scored {score}%")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Formatted numbers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print(f"Pi = {pi:.2f}")  # Pi = 3.14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06240" cy="4023360"/>
          </a:xfrm>
          <a:prstGeom prst="rect">
            <a:avLst/>
          </a:prstGeom>
          <a:solidFill>
            <a:srgbClr val="1A2840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input()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36592" y="1417320"/>
            <a:ext cx="4078224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1417320"/>
            <a:ext cx="407822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4996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0912" y="14996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14996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49047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73752" y="1737360"/>
            <a:ext cx="38039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input() always returns str!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input("Enter name: 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print("Hello,", name)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int(input("Age: 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float(input("Height: "))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example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print("=== Student Form ===")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sname = input("Name: 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int(input("Score: "))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50: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print(f"{sname}: PASS ✅")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print(f"{sname}: FAIL ❌")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Expressions in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206240" cy="2057400"/>
          </a:xfrm>
          <a:prstGeom prst="rect">
            <a:avLst/>
          </a:prstGeom>
          <a:solidFill>
            <a:srgbClr val="1A2840"/>
          </a:solidFill>
          <a:ln w="12700">
            <a:solidFill>
              <a:srgbClr val="4B8B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206240" cy="36576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73352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99232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" y="1572768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73352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" y="1810512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73352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9232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" y="2048256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066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73352" y="2066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3*4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99232" y="2066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" y="2286000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04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73352" y="2304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99232" y="2304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2523744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542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73352" y="2542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7//2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99232" y="2542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" y="2761488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7797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73352" y="27797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7%2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99232" y="27797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" y="2999232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175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73352" y="30175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2**8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99232" y="30175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3108960"/>
            <a:ext cx="4206240" cy="2057400"/>
          </a:xfrm>
          <a:prstGeom prst="rect">
            <a:avLst/>
          </a:prstGeom>
          <a:solidFill>
            <a:srgbClr val="1A284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108960"/>
            <a:ext cx="420624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7472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73352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99232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9184" y="3767328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73352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5==5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99232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9184" y="4005072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73352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5!=3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99232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9184" y="4242816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673352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8&gt;3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999232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9184" y="4480560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673352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2&lt;7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99232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9184" y="4718304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4736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673352" y="4736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5&gt;=5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999232" y="4736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9184" y="4956048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4974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673352" y="4974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3&lt;=6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999232" y="4974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63440" y="914400"/>
            <a:ext cx="4206240" cy="2057400"/>
          </a:xfrm>
          <a:prstGeom prst="rect">
            <a:avLst/>
          </a:prstGeom>
          <a:solidFill>
            <a:srgbClr val="1A284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754880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080760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406640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36592" y="1572768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54880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080760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and F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406640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736592" y="1810512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54880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080760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or F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406640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736592" y="2048256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0" y="2066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080760" y="2066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406640" y="2066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663440" y="3108960"/>
            <a:ext cx="4206240" cy="2057400"/>
          </a:xfrm>
          <a:prstGeom prst="rect">
            <a:avLst/>
          </a:prstGeom>
          <a:solidFill>
            <a:srgbClr val="1A2840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663440" y="3108960"/>
            <a:ext cx="4206240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5488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754880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080760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406640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736592" y="3767328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54880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6080760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x=5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406640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736592" y="4005072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54880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080760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x+=3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406640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736592" y="4242816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54880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6080760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x-=1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406640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736592" y="4480560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54880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6080760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x*=2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7406640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736592" y="4718304"/>
            <a:ext cx="4059936" cy="219456"/>
          </a:xfrm>
          <a:prstGeom prst="rect">
            <a:avLst/>
          </a:prstGeom>
          <a:solidFill>
            <a:srgbClr val="1D304A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54880" y="4736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//=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6080760" y="4736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x//=3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406640" y="4736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736592" y="4956048"/>
            <a:ext cx="4059936" cy="219456"/>
          </a:xfrm>
          <a:prstGeom prst="rect">
            <a:avLst/>
          </a:prstGeom>
          <a:solidFill>
            <a:srgbClr val="1A2840"/>
          </a:solidFill>
          <a:ln w="12700">
            <a:solidFill>
              <a:srgbClr val="2D406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54880" y="4974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**=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6080760" y="4974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x**=2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7406640" y="4974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Operations — Python's Power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8631936" cy="2057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863193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966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9966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9966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234440"/>
            <a:ext cx="8357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 creation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"Hello, Python!"    # or single quotes, or triple quotes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  →  s[start : stop : step]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print(s[0])         # H          (first char)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print(s[-1])        # !          (last char)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print(s[0:5])       # Hello      (chars 0-4)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print(s[::2])       # Hlo yhn   (every 2nd)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print(s[::-1])      # !nohtyP ,olleH  (reversed)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3063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String Methods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3474720"/>
            <a:ext cx="4206240" cy="274320"/>
          </a:xfrm>
          <a:prstGeom prst="rect">
            <a:avLst/>
          </a:prstGeom>
          <a:solidFill>
            <a:srgbClr val="1A2840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35112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.upper()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00784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"hi".upper()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9272" y="3511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776472"/>
            <a:ext cx="4206240" cy="274320"/>
          </a:xfrm>
          <a:prstGeom prst="rect">
            <a:avLst/>
          </a:prstGeom>
          <a:solidFill>
            <a:srgbClr val="1D304A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8130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00784" y="38130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"Hi".lower()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9272" y="3813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4206240" cy="274320"/>
          </a:xfrm>
          <a:prstGeom prst="rect">
            <a:avLst/>
          </a:prstGeom>
          <a:solidFill>
            <a:srgbClr val="1A2840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4114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00784" y="4114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hi ".strip()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4114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379976"/>
            <a:ext cx="4206240" cy="274320"/>
          </a:xfrm>
          <a:prstGeom prst="rect">
            <a:avLst/>
          </a:prstGeom>
          <a:solidFill>
            <a:srgbClr val="1D304A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00784" y="4416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"a,b".split(",")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9272" y="4416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["a","b"]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4681728"/>
            <a:ext cx="4206240" cy="274320"/>
          </a:xfrm>
          <a:prstGeom prst="rect">
            <a:avLst/>
          </a:prstGeom>
          <a:solidFill>
            <a:srgbClr val="1A2840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4718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00784" y="47183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"abc".replace("b","X")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19272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"aXc"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206240" cy="274320"/>
          </a:xfrm>
          <a:prstGeom prst="rect">
            <a:avLst/>
          </a:prstGeom>
          <a:solidFill>
            <a:srgbClr val="1A2840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5112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08192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"hello".find("l")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26680" y="3511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776472"/>
            <a:ext cx="4206240" cy="274320"/>
          </a:xfrm>
          <a:prstGeom prst="rect">
            <a:avLst/>
          </a:prstGeom>
          <a:solidFill>
            <a:srgbClr val="1D304A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8130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.count()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08192" y="38130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"aabaa".count("a")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26680" y="3813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078224"/>
            <a:ext cx="4206240" cy="274320"/>
          </a:xfrm>
          <a:prstGeom prst="rect">
            <a:avLst/>
          </a:prstGeom>
          <a:solidFill>
            <a:srgbClr val="1A2840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114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.startswith()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08192" y="4114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"Hi".startswith("H")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26680" y="4114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4379976"/>
            <a:ext cx="4206240" cy="274320"/>
          </a:xfrm>
          <a:prstGeom prst="rect">
            <a:avLst/>
          </a:prstGeom>
          <a:solidFill>
            <a:srgbClr val="1D304A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08192" y="4416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"-".join(["a","b"])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26680" y="4416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"a-b"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681728"/>
            <a:ext cx="4206240" cy="274320"/>
          </a:xfrm>
          <a:prstGeom prst="rect">
            <a:avLst/>
          </a:prstGeom>
          <a:solidFill>
            <a:srgbClr val="1A2840"/>
          </a:solidFill>
          <a:ln w="6350">
            <a:solidFill>
              <a:srgbClr val="2D406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4718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08192" y="47183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"{0}".format("Go!")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726680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"Go!"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if / elif / else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892040" cy="23591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8920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966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9966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9966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234440"/>
            <a:ext cx="461772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Grade Calculator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int(input("Enter score: "))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    grade = 'A'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  grade = 'B'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  grade = 'C'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50:  grade = 'D'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grade = 'F'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print(f"Grade: {grade}")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914400"/>
            <a:ext cx="3584448" cy="2359152"/>
          </a:xfrm>
          <a:prstGeom prst="rect">
            <a:avLst/>
          </a:prstGeom>
          <a:solidFill>
            <a:srgbClr val="1A2840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13248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399032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Colon (:) ends every condition 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1773936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Indentation (4 spaces) defines the block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148840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elif = 'else if' — chain multiple 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523744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else catches everything remaining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2898648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Only ONE branch executes per run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Loops — for &amp; while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3749040"/>
            <a:ext cx="425196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749040"/>
            <a:ext cx="42519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3133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83133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383133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8221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192" y="4069080"/>
            <a:ext cx="3977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      # for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end=' ')      # 1 2 3 4 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['apple','mango']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fruits: print(f)  # iterate list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4224528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749040"/>
            <a:ext cx="4224528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383133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83133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2352" y="383133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221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0600" y="4069080"/>
            <a:ext cx="39502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&lt;= 5:              # while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print(n, end=' ')      # 1 2 3 4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+=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break / continue also work inside loops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def, Parameters, Return Values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6217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let you write once, use many times (DRY principle)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512064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51206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3502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61872" y="1033272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Define a function 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greeting='Hello'):   # default arg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a greeting string."""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f"{greeting}, {name}!"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Call the function 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greet("Alice")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print(msg)            # Hello, Alice!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print(greet("Bob", "Hi"))   # Hi, Bob!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Multiple return values 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min_max(nums):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min(nums), max(nums)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lo, hi = min_max([3, 1, 8, 2])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print(lo, hi)         # 1 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261872"/>
            <a:ext cx="3355848" cy="2377440"/>
          </a:xfrm>
          <a:prstGeom prst="rect">
            <a:avLst/>
          </a:prstGeom>
          <a:solidFill>
            <a:srgbClr val="1A284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50992" y="13533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Anatomy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50992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84848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to define function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50992" y="2066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84848" y="2066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 (snake_case)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50992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...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84848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(inputs)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50992" y="2688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"""..."""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84848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(optional but good)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50992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84848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value back to caller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50992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greet(…)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84848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with arguments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" y="38267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Lambda (One-Line Functions)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6032" y="4160520"/>
            <a:ext cx="8631936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365760" y="42428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2428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" y="42428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23367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3192" y="4480560"/>
            <a:ext cx="8357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          # square(5) →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  = lambda a, b: a + b        # add(3, 4) → 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[3,1,4,1,5]; nums.sort(key=lambda x: -x)   # [5,4,3,1,1]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Python's Most Used Data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5120640" cy="2240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51206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966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9966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9966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234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 = ["Python", "Maths", "OS"]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&amp;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print(courses[0])       # Python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print(courses[-1])      # 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courses[1] = "Algebra"  # update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/ remove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courses.append("Networks")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courses.insert(1, "AI")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courses.remove("OS")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popped = courses.pop()  # removes last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3355848" cy="2240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914400"/>
            <a:ext cx="3355848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41848" y="9966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9966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71032" y="9966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9875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0" y="1234440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[x**2 for x in range(6)]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4, 9, 16, 25]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[x for x in range(20)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x % 2 == 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Useful functions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len(courses)    # 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sum([1,2,3])    #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sorted(courses) # new sorted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" y="32644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Iterating a List — Common Pattern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3657600"/>
            <a:ext cx="8631936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657600"/>
            <a:ext cx="863193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398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7398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37398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7307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192" y="3977640"/>
            <a:ext cx="8357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[('Alice', 88), ('Bob', 72), ('Carol', 95)]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students:              # tuple unpacking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"PASS" if score &gt;= 50 else "FAIL"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print(f"{name:10} | {score:3} | {status}")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Lab Activity — Build a Mini Calculator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914400"/>
            <a:ext cx="489204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914400"/>
            <a:ext cx="48920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9966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9966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9966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98755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93192" y="1234440"/>
            <a:ext cx="4617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calculator.py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Mini Calculator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Topics: input, functions, if/elif, loops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      return a +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subtract(a, b): return a -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multiply(a, b): return a *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divide(a, b):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 ==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"Error: division by zero"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/ 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print("\n=== Calculator ===")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print("1.Add 2.Sub 3.Mul 4.Div 5.Exit")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choice = input("Choose: 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choice == "5": break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float(input("First number: 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float(input("Second number: 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ops = {"1":add,"2":subtract,"3":multiply,"4":divide}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choice in ops: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print("Result:", ops[choice](a, b))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914400"/>
            <a:ext cx="3584448" cy="3977640"/>
          </a:xfrm>
          <a:prstGeom prst="rect">
            <a:avLst/>
          </a:prstGeom>
          <a:solidFill>
            <a:srgbClr val="1A2840"/>
          </a:solidFill>
          <a:ln w="12700">
            <a:solidFill>
              <a:srgbClr val="FFD4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914400"/>
            <a:ext cx="3584448" cy="438912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9875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Extension Challenges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13248" y="1463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square root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18013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math, add option 6 for math.sqrt(a)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13248" y="2286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feature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26243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last result and allow 'ans' as input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13248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log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0" y="3447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list of past calculations and print them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13248" y="3931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94360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with tkinter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0" y="4270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button-based GUI version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Best Practices &amp; PEP 8 Style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8631936" cy="22860"/>
          </a:xfrm>
          <a:prstGeom prst="rect">
            <a:avLst/>
          </a:prstGeom>
          <a:solidFill>
            <a:srgbClr val="2D406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60120"/>
            <a:ext cx="4206240" cy="1188720"/>
          </a:xfrm>
          <a:prstGeom prst="rect">
            <a:avLst/>
          </a:prstGeom>
          <a:solidFill>
            <a:srgbClr val="1A2840"/>
          </a:solidFill>
          <a:ln w="12700">
            <a:solidFill>
              <a:srgbClr val="4B8B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73152" cy="1188720"/>
          </a:xfrm>
          <a:prstGeom prst="rect">
            <a:avLst/>
          </a:prstGeom>
          <a:solidFill>
            <a:srgbClr val="4B8BBE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Indentation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35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spaces (never tabs). Inconsistent indentation causes IndentationError.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286000"/>
            <a:ext cx="4206240" cy="1188720"/>
          </a:xfrm>
          <a:prstGeom prst="rect">
            <a:avLst/>
          </a:prstGeom>
          <a:solidFill>
            <a:srgbClr val="1A284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2286000"/>
            <a:ext cx="73152" cy="1188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📛  Naming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for variables/functions, PascalCase for classes, UPPER_CASE for constants.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3611880"/>
            <a:ext cx="4206240" cy="1188720"/>
          </a:xfrm>
          <a:prstGeom prst="rect">
            <a:avLst/>
          </a:prstGeom>
          <a:solidFill>
            <a:srgbClr val="1A2840"/>
          </a:solidFill>
          <a:ln w="12700">
            <a:solidFill>
              <a:srgbClr val="FFD4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611880"/>
            <a:ext cx="73152" cy="118872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Comments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408736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WHY not WHAT. One comment per complex block, not every 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206240" cy="1188720"/>
          </a:xfrm>
          <a:prstGeom prst="rect">
            <a:avLst/>
          </a:prstGeom>
          <a:solidFill>
            <a:srgbClr val="1A284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73152" cy="1188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Imports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435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at top of file. stdlib → third-party → local. One import per 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4206240" cy="1188720"/>
          </a:xfrm>
          <a:prstGeom prst="rect">
            <a:avLst/>
          </a:prstGeom>
          <a:solidFill>
            <a:srgbClr val="1A28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28600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Line Length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7614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79 characters per line (PEP 8). Break long lines with backslash or brackets.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611880"/>
            <a:ext cx="4206240" cy="1188720"/>
          </a:xfrm>
          <a:prstGeom prst="rect">
            <a:avLst/>
          </a:prstGeom>
          <a:solidFill>
            <a:srgbClr val="1A2840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11880"/>
            <a:ext cx="73152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08736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functions with known inputs/outputs. Use assert for quick checks.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D3557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Python Programmer! 🎉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228600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Program structure, comments &amp; naming rules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303580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 input() and print() with f-strings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785616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Arithmetic, comparison &amp; logical operators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228600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if/elif/else and for/while loops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303580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Define and call functions with return values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3785616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Lists and list comprehensions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solidFill>
            <a:srgbClr val="1E3A1E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47183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Next: Python Data Structures — Lists, Tuples, Dictionaries &amp; Sets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2014</Words>
  <Application>Microsoft Office PowerPoint</Application>
  <PresentationFormat>On-screen Show (16:9)</PresentationFormat>
  <Paragraphs>419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and Executing Python Programs</dc:title>
  <dc:subject>PptxGenJS Presentation</dc:subject>
  <dc:creator>PptxGenJS</dc:creator>
  <cp:lastModifiedBy>sameer farooq</cp:lastModifiedBy>
  <cp:revision>3</cp:revision>
  <dcterms:created xsi:type="dcterms:W3CDTF">2026-06-08T06:03:41Z</dcterms:created>
  <dcterms:modified xsi:type="dcterms:W3CDTF">2026-06-08T09:45:55Z</dcterms:modified>
</cp:coreProperties>
</file>