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yourself as Dr. Sameer Farooq and set the tone for an interactive Python bootcamp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main topics. This gives students a clear map of what to expect in this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indentation — it is syntax in Python, not style. Demo in IDLE or VS Code. Show what happens when indentation is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Python uses dynamic typing — the variable type is inferred at runtime. Show live examples of reassigning a variable to a different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10 minutes for this exercise. Walk around the room. The bonus swap (a, b = b, a) is a great Python trick to highlight.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has additional compound types (set, frozenset) but these 8 cover what beginners need. Mention that Python also has complex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common beginner bug: forgetting to convert input() — it always returns a string. Run this example live and show the ValueError.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isinstance() is preferred over type() == because it respects inheritance. Demonstrate that bool is a subclass of int — a common surprise for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program uses try/except for type detection — a good preview of exception handling. Give 15 minutes for the exercise. The bonus version introduces list comprehension.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session. Ask students: what was the most surprising thing? Assign homework: write a program that reads 5 numbers from input, computes average, and prints with proper type handling.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F3460">
              <a:alpha val="40000"/>
            </a:srgbClr>
          </a:solidFill>
          <a:ln w="12700">
            <a:solidFill>
              <a:srgbClr val="0F346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560320" cy="2560320"/>
          </a:xfrm>
          <a:prstGeom prst="ellipse">
            <a:avLst/>
          </a:prstGeom>
          <a:solidFill>
            <a:srgbClr val="E94560">
              <a:alpha val="30000"/>
            </a:srgbClr>
          </a:solidFill>
          <a:ln w="12700">
            <a:solidFill>
              <a:srgbClr val="E9456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1645920" cy="1645920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320040"/>
            <a:ext cx="2743200" cy="384048"/>
          </a:xfrm>
          <a:prstGeom prst="roundRect">
            <a:avLst>
              <a:gd name="adj" fmla="val 28571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320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 BOOTCAMP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FD1C5"/>
                </a:solidFill>
              </a:rPr>
              <a:t>KR Mangalam University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Python Programming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94560"/>
                </a:solidFill>
              </a:rPr>
              <a:t>Fundamentals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</a:rPr>
              <a:t>Syntax • Variables • Data Types • Type Conversion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57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Dr. Sameer Farooq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4041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KR Mangalam University  |  Python Programming Bootcamp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4FD1C5"/>
                </a:solidFill>
              </a:rPr>
              <a:t>SESSION AGENDA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4358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43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152144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Python Syntax &amp; Variables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1499616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Rules, identifiers, variable declaration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1762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208483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Variable Declaration Exercises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2432304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Hands-on practice: naming, assignment, scope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44368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10896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301752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Data Types &amp; Type Conversion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5568" y="3364992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int, float, str, bool, list — and casting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877056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04164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5568" y="395020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Data Type Identification Programs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5568" y="429768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Using type(), isinstance() and mini-programs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D1C5"/>
                </a:solidFill>
              </a:rPr>
              <a:t>PYTHON SYNTAX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Core Rules &amp; Structure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14800" cy="603504"/>
          </a:xfrm>
          <a:prstGeom prst="roundRect">
            <a:avLst>
              <a:gd name="adj" fmla="val 10606"/>
            </a:avLst>
          </a:prstGeom>
          <a:solidFill>
            <a:srgbClr val="0F3460">
              <a:alpha val="60000"/>
            </a:srgbClr>
          </a:solidFill>
          <a:ln w="12700">
            <a:solidFill>
              <a:srgbClr val="0F3460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15568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1521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Indentation matters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41732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4 spaces per block (no braces!)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847088"/>
            <a:ext cx="4114800" cy="603504"/>
          </a:xfrm>
          <a:prstGeom prst="roundRect">
            <a:avLst>
              <a:gd name="adj" fmla="val 10606"/>
            </a:avLst>
          </a:prstGeom>
          <a:solidFill>
            <a:srgbClr val="0F3460">
              <a:alpha val="60000"/>
            </a:srgbClr>
          </a:solidFill>
          <a:ln w="12700">
            <a:solidFill>
              <a:srgbClr val="0F3460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847088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18836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Case-sensitive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214884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name ≠ Name ≠ NAME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578608"/>
            <a:ext cx="4114800" cy="603504"/>
          </a:xfrm>
          <a:prstGeom prst="roundRect">
            <a:avLst>
              <a:gd name="adj" fmla="val 10606"/>
            </a:avLst>
          </a:prstGeom>
          <a:solidFill>
            <a:srgbClr val="0F3460">
              <a:alpha val="60000"/>
            </a:srgbClr>
          </a:solidFill>
          <a:ln w="12700">
            <a:solidFill>
              <a:srgbClr val="0F3460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578608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" y="26151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 for comments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288036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Single line comments only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310128"/>
            <a:ext cx="4114800" cy="603504"/>
          </a:xfrm>
          <a:prstGeom prst="roundRect">
            <a:avLst>
              <a:gd name="adj" fmla="val 10606"/>
            </a:avLst>
          </a:prstGeom>
          <a:solidFill>
            <a:srgbClr val="0F3460">
              <a:alpha val="60000"/>
            </a:srgbClr>
          </a:solidFill>
          <a:ln w="12700">
            <a:solidFill>
              <a:srgbClr val="0F3460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310128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" y="33467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semicolons needed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361188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Newline ends a statement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041648"/>
            <a:ext cx="4114800" cy="603504"/>
          </a:xfrm>
          <a:prstGeom prst="roundRect">
            <a:avLst>
              <a:gd name="adj" fmla="val 10606"/>
            </a:avLst>
          </a:prstGeom>
          <a:solidFill>
            <a:srgbClr val="0F3460">
              <a:alpha val="60000"/>
            </a:srgbClr>
          </a:solidFill>
          <a:ln w="12700">
            <a:solidFill>
              <a:srgbClr val="0F3460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041648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" y="40782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Dynamic typing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" y="434340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No need to declare type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078992"/>
            <a:ext cx="4206240" cy="3840480"/>
          </a:xfrm>
          <a:prstGeom prst="roundRect">
            <a:avLst>
              <a:gd name="adj" fmla="val 2381"/>
            </a:avLst>
          </a:prstGeom>
          <a:solidFill>
            <a:srgbClr val="0D1B2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188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Syntax Example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1463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"Dr. Farooq"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17190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= 35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1975104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21214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&gt; 30: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2377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B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print("Senior Prof!")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2633472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27797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Function definition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30358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greet(person):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32918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 = f"Hello, {person}!"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35478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msg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3803904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39502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9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print(greet(name))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D1C5"/>
                </a:solidFill>
              </a:rPr>
              <a:t>VARIABLES IN PYTHON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Declaration &amp; Naming Rules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Naming Rules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206240" cy="493776"/>
          </a:xfrm>
          <a:prstGeom prst="roundRect">
            <a:avLst>
              <a:gd name="adj" fmla="val 12963"/>
            </a:avLst>
          </a:prstGeom>
          <a:solidFill>
            <a:srgbClr val="F0FFF4"/>
          </a:solidFill>
          <a:ln w="12700">
            <a:solidFill>
              <a:srgbClr val="C6F6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9961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student_name = "Ali"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70078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6749"/>
                </a:solidFill>
              </a:rPr>
              <a:t>✓ snake_case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048256"/>
            <a:ext cx="4206240" cy="493776"/>
          </a:xfrm>
          <a:prstGeom prst="roundRect">
            <a:avLst>
              <a:gd name="adj" fmla="val 12963"/>
            </a:avLst>
          </a:prstGeom>
          <a:solidFill>
            <a:srgbClr val="F0FFF4"/>
          </a:solidFill>
          <a:ln w="12700">
            <a:solidFill>
              <a:srgbClr val="C6F6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08483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courseCode = "CS101"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22860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6749"/>
                </a:solidFill>
              </a:rPr>
              <a:t>✓ camelCase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633472"/>
            <a:ext cx="4206240" cy="493776"/>
          </a:xfrm>
          <a:prstGeom prst="roundRect">
            <a:avLst>
              <a:gd name="adj" fmla="val 12963"/>
            </a:avLst>
          </a:prstGeom>
          <a:solidFill>
            <a:srgbClr val="F0FFF4"/>
          </a:solidFill>
          <a:ln w="12700">
            <a:solidFill>
              <a:srgbClr val="C6F6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7004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_private = 42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287121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6749"/>
                </a:solidFill>
              </a:rPr>
              <a:t>✓ leading underscore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218688"/>
            <a:ext cx="4206240" cy="493776"/>
          </a:xfrm>
          <a:prstGeom prst="roundRect">
            <a:avLst>
              <a:gd name="adj" fmla="val 12963"/>
            </a:avLst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25526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2nd_student = "Bob"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" y="345643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2C2C"/>
                </a:solidFill>
              </a:rPr>
              <a:t>✗ starts with digit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803904"/>
            <a:ext cx="4206240" cy="493776"/>
          </a:xfrm>
          <a:prstGeom prst="roundRect">
            <a:avLst>
              <a:gd name="adj" fmla="val 12963"/>
            </a:avLst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84048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= "Math"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404164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2C2C"/>
                </a:solidFill>
              </a:rPr>
              <a:t>✗ reserved keyword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389120"/>
            <a:ext cx="4206240" cy="493776"/>
          </a:xfrm>
          <a:prstGeom prst="roundRect">
            <a:avLst>
              <a:gd name="adj" fmla="val 12963"/>
            </a:avLst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42569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my-var = 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" y="462686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2C2C"/>
                </a:solidFill>
              </a:rPr>
              <a:t>✗ hyphen not allowed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1005840"/>
            <a:ext cx="4114800" cy="3977640"/>
          </a:xfrm>
          <a:prstGeom prst="roundRect">
            <a:avLst>
              <a:gd name="adj" fmla="val 2299"/>
            </a:avLst>
          </a:prstGeom>
          <a:solidFill>
            <a:srgbClr val="0D1B2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1155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Single assignment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13533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1591056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17373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 assignment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197510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b, c = 1, 2, 3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221284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23591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Same value to many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25968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y = z = 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2834640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29809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Augmented assignment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32186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34564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B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+= 10  # now 10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46320" y="369417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B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*= 2   # now 20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46320" y="39319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9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print(score) # → 20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623"/>
                </a:solidFill>
              </a:rPr>
              <a:t>VARIABLE DECLARATION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Hands-On Exercise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206240" cy="3886200"/>
          </a:xfrm>
          <a:prstGeom prst="roundRect">
            <a:avLst>
              <a:gd name="adj" fmla="val 2353"/>
            </a:avLst>
          </a:prstGeom>
          <a:solidFill>
            <a:srgbClr val="0F3460">
              <a:alpha val="80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704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📋 EXERCISE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variables for: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379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Your full name (string)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396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Your age (integer)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414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Your GPA (float)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Are you enrolled? (bool)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044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3467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print all variables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6484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an f-string.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950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Swap two variables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553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temp variable!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206240" cy="3886200"/>
          </a:xfrm>
          <a:prstGeom prst="roundRect">
            <a:avLst>
              <a:gd name="adj" fmla="val 2353"/>
            </a:avLst>
          </a:prstGeom>
          <a:solidFill>
            <a:srgbClr val="0D1B2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1521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💡 Sample Solution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14813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Student Profile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00600" y="16916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full_name = "Ali Hassan"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00600" y="19019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     = 21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00600" y="211226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gpa       = 3.75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00600" y="232257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enrolled  = True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00600" y="25328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00600" y="27432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 with f-string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00600" y="295351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8B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print(f"Name : {full_name}")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00600" y="31638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8B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print(f"Age  : {age}")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00600" y="337413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8B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print(f"GPA  : {gpa}")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00600" y="35844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8B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print(f"Enrolled: {enrolled}")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00600" y="37947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00600" y="40050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Bonus: swap without temp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00600" y="42153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6E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 = 5, 10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00600" y="44256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6E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 = b, 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00600" y="46360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9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print(a, b)  # 10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D1C5"/>
                </a:solidFill>
              </a:rPr>
              <a:t>PYTHON DATA TYPES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Built-in Types at a Glance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51960" cy="841248"/>
          </a:xfrm>
          <a:prstGeom prst="roundRect">
            <a:avLst>
              <a:gd name="adj" fmla="val 8696"/>
            </a:avLst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61872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7280" y="11612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97280" y="161848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Whole numbers (no decimal)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251960" cy="841248"/>
          </a:xfrm>
          <a:prstGeom prst="roundRect">
            <a:avLst>
              <a:gd name="adj" fmla="val 8696"/>
            </a:avLst>
          </a:prstGeom>
          <a:solidFill>
            <a:srgbClr val="FFFAF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61872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2618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float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532120" y="11612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= 3.14159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532120" y="161848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Decimal / real numbers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075688"/>
            <a:ext cx="4251960" cy="841248"/>
          </a:xfrm>
          <a:prstGeom prst="roundRect">
            <a:avLst>
              <a:gd name="adj" fmla="val 8696"/>
            </a:avLst>
          </a:prstGeom>
          <a:solidFill>
            <a:srgbClr val="E6FF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240280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97280" y="21396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= "Gurugram"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25968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Text — enclosed in quotes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075688"/>
            <a:ext cx="4251960" cy="841248"/>
          </a:xfrm>
          <a:prstGeom prst="roundRect">
            <a:avLst>
              <a:gd name="adj" fmla="val 8696"/>
            </a:avLst>
          </a:prstGeom>
          <a:solidFill>
            <a:srgbClr val="F0FF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240280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2402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bool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532120" y="21396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 = True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32120" y="25968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True or False only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054096"/>
            <a:ext cx="4251960" cy="841248"/>
          </a:xfrm>
          <a:prstGeom prst="roundRect">
            <a:avLst>
              <a:gd name="adj" fmla="val 8696"/>
            </a:avLst>
          </a:prstGeom>
          <a:solidFill>
            <a:srgbClr val="FAF5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218688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B794F4"/>
          </a:solidFill>
          <a:ln w="12700">
            <a:solidFill>
              <a:srgbClr val="B794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186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list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97280" y="31181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 = [90, 85, 78]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97280" y="357530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Ordered, mutable collection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054096"/>
            <a:ext cx="4251960" cy="841248"/>
          </a:xfrm>
          <a:prstGeom prst="roundRect">
            <a:avLst>
              <a:gd name="adj" fmla="val 8696"/>
            </a:avLst>
          </a:prstGeom>
          <a:solidFill>
            <a:srgbClr val="FFFAF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218688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2186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tuple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532120" y="31181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coords = (28.4, 77.0)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32120" y="357530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Ordered, immutable collection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032504"/>
            <a:ext cx="4251960" cy="841248"/>
          </a:xfrm>
          <a:prstGeom prst="roundRect">
            <a:avLst>
              <a:gd name="adj" fmla="val 8696"/>
            </a:avLst>
          </a:prstGeom>
          <a:solidFill>
            <a:srgbClr val="EBF8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4197096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19709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dict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97280" y="40965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{"name": "Ali"}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97280" y="455371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Key-value pairs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4032504"/>
            <a:ext cx="4251960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4197096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A0AEC0"/>
          </a:solidFill>
          <a:ln w="12700">
            <a:solidFill>
              <a:srgbClr val="A0AE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419709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NoneType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32120" y="40965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None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532120" y="455371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Absence of a value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94F4"/>
                </a:solidFill>
              </a:rPr>
              <a:t>TYPE CONVERSION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Implicit &amp; Explicit Casting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931920" cy="1481328"/>
          </a:xfrm>
          <a:prstGeom prst="roundRect">
            <a:avLst>
              <a:gd name="adj" fmla="val 6173"/>
            </a:avLst>
          </a:prstGeom>
          <a:solidFill>
            <a:srgbClr val="0F3460">
              <a:alpha val="70000"/>
            </a:srgbClr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E05E"/>
                </a:solidFill>
              </a:rPr>
              <a:t>Implicit (Automatic)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264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Python promotes smaller type automatically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       # int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2.5     # float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15798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B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x + y   # → 7.5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35915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z is now float ✓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37760" y="1051560"/>
            <a:ext cx="3931920" cy="1481328"/>
          </a:xfrm>
          <a:prstGeom prst="roundRect">
            <a:avLst>
              <a:gd name="adj" fmla="val 6173"/>
            </a:avLst>
          </a:prstGeom>
          <a:solidFill>
            <a:srgbClr val="2D1B4E"/>
          </a:solidFill>
          <a:ln w="12700">
            <a:solidFill>
              <a:srgbClr val="B794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1155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94F4"/>
                </a:solidFill>
              </a:rPr>
              <a:t>Explicit (Manual Cast)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14264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Use int(), float(), str(), bool()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173736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int("42")     # str→int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20640" y="193852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float("3.14") # str→float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20640" y="215798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str(100)      # int→str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20640" y="235915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B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bool(0)       # → False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651760"/>
            <a:ext cx="8595360" cy="2331720"/>
          </a:xfrm>
          <a:prstGeom prst="roundRect">
            <a:avLst>
              <a:gd name="adj" fmla="val 3922"/>
            </a:avLst>
          </a:prstGeom>
          <a:solidFill>
            <a:srgbClr val="0D1B2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249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Real-world example: user input is always a string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296265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marks_input = input("Enter marks: ")  # returns str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32004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6E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float(marks_input)              # convert!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438144"/>
            <a:ext cx="8229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5661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= "A" if marks &gt;= 90 else "B" if marks &gt;= 80 else "C"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8039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B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print(f"Score: {marks}  Grade: {grade}")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04164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ValueError raised if non-numeric is entered — handle with try/except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8BB78"/>
                </a:solidFill>
              </a:rPr>
              <a:t>TYPE IDENTIFICATION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Using type() and isinstance()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0D1B2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338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BB78"/>
                </a:solidFill>
              </a:rPr>
              <a:t>Using type()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type() returns the class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70078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42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9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print(type(x))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1396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8B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&lt;class 'int'&gt;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3591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5786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[1, "hi", 3.5, True]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7980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item in data: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30175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9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print(type(item).__name__)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323697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8B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int, str, float, bool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34564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6758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against a type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8953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3.14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41148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type(n) == float: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43342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8B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print("It's a float!")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46320" y="105156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0D1B2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1338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E05E"/>
                </a:solidFill>
              </a:rPr>
              <a:t>isinstance() — preferred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14813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Supports inheritance checks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83480" y="170078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True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83480" y="19202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9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print(isinstance(x, bool))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83480" y="21396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8B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83480" y="23591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9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print(isinstance(x, int))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83480" y="25786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6E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 (bool IS-A int!)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83480" y="27980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83480" y="30175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Multi-type check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83480" y="323697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describe(val):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83480" y="34564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isinstance(val, (int,float)):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83480" y="36758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8B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"numeric"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83480" y="38953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elif isinstance(val, str):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83480" y="41148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8B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"text"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83480" y="43342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83480" y="45537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8B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"other"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8BB78"/>
                </a:solidFill>
              </a:rPr>
              <a:t>MINI-PROGRAM EXERCISE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Data Type Inspector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017520" cy="3840480"/>
          </a:xfrm>
          <a:prstGeom prst="roundRect">
            <a:avLst>
              <a:gd name="adj" fmla="val 3030"/>
            </a:avLst>
          </a:prstGeom>
          <a:solidFill>
            <a:srgbClr val="1E3A5F"/>
          </a:solidFill>
          <a:ln w="12700">
            <a:solidFill>
              <a:srgbClr val="4FD1C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C5"/>
                </a:solidFill>
              </a:rPr>
              <a:t>🎯 Goal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Build a Type Inspector that: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79222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04825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6E05E"/>
                </a:solidFill>
              </a:rPr>
              <a:t>→ Accepts any user input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6E05E"/>
                </a:solidFill>
              </a:rPr>
              <a:t>→ Tries to detect if it's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   int, float, or string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81635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6E05E"/>
                </a:solidFill>
              </a:rPr>
              <a:t>→ Displays type name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07238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6E05E"/>
                </a:solidFill>
              </a:rPr>
              <a:t>→ Shows all type properties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32841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58444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</a:rPr>
              <a:t>BONUS: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6E05E"/>
                </a:solidFill>
              </a:rPr>
              <a:t>→ Handle comma-separated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09651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  list of values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35254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6E05E"/>
                </a:solidFill>
              </a:rPr>
              <a:t>→ Show type for each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0" y="105156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0D1B2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113385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BB78"/>
                </a:solidFill>
              </a:rPr>
              <a:t># Type Inspector Program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11880" y="1444752"/>
            <a:ext cx="5120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detect_type(value_str):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11880" y="1627632"/>
            <a:ext cx="5120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11880" y="1810512"/>
            <a:ext cx="5120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int(value_str)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11880" y="1993392"/>
            <a:ext cx="5120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int, int(value_str)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11880" y="2176272"/>
            <a:ext cx="5120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ValueError: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11880" y="2359152"/>
            <a:ext cx="5120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pass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11880" y="2542032"/>
            <a:ext cx="5120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11880" y="2724912"/>
            <a:ext cx="5120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float(value_str)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11880" y="2907792"/>
            <a:ext cx="5120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float, float(value_str)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11880" y="3090672"/>
            <a:ext cx="5120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ValueError: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11880" y="3273552"/>
            <a:ext cx="5120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pass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11880" y="3456432"/>
            <a:ext cx="5120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str, value_str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11880" y="3639312"/>
            <a:ext cx="5120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11880" y="3822192"/>
            <a:ext cx="5120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Main program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11880" y="4005072"/>
            <a:ext cx="5120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6E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user_input = input("Enter a value: ")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11880" y="4187952"/>
            <a:ext cx="5120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detected, converted = detect_type(user_input)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11880" y="4370832"/>
            <a:ext cx="5120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8B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print(f"Type : {detected.__name__}")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11880" y="4553712"/>
            <a:ext cx="5120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8B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print(f"Value: {converted}")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11880" y="4736592"/>
            <a:ext cx="51206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9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print(f"isinstance int? {isinstance(converted, int)}")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4FD1C5">
              <a:alpha val="20000"/>
            </a:srgbClr>
          </a:solidFill>
          <a:ln w="1270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A0AEC0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You Learned Today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14400" y="1207008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335024"/>
            <a:ext cx="365760" cy="36576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1298448"/>
            <a:ext cx="6492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F"/>
                </a:solidFill>
              </a:rPr>
              <a:t>Python uses indentation for blocks — no braces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1956816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084832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2048256"/>
            <a:ext cx="6492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F"/>
                </a:solidFill>
              </a:rPr>
              <a:t>Variables are dynamically typed &amp; need no declaration keyword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2706624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2834640"/>
            <a:ext cx="365760" cy="3657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2798064"/>
            <a:ext cx="6492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F"/>
                </a:solidFill>
              </a:rPr>
              <a:t>Core types: int, float, str, bool, list, tuple, dict, None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" y="3456432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3584448"/>
            <a:ext cx="365760" cy="365760"/>
          </a:xfrm>
          <a:prstGeom prst="ellipse">
            <a:avLst/>
          </a:prstGeom>
          <a:solidFill>
            <a:srgbClr val="B794F4"/>
          </a:solidFill>
          <a:ln w="12700">
            <a:solidFill>
              <a:srgbClr val="B794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08760" y="3547872"/>
            <a:ext cx="6492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F"/>
                </a:solidFill>
              </a:rPr>
              <a:t>Use int(), float(), str() for explicit type conversion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4400" y="4206240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4334256"/>
            <a:ext cx="365760" cy="365760"/>
          </a:xfrm>
          <a:prstGeom prst="ellipse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508760" y="4297680"/>
            <a:ext cx="6492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F"/>
                </a:solidFill>
              </a:rPr>
              <a:t>type() returns a class; isinstance() handles inheritance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Dr. Sameer Farooq  •  KR Mangalam University  •  Python Bootcamp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Bootcamp</dc:title>
  <dc:subject>PptxGenJS Presentation</dc:subject>
  <dc:creator>Dr. Sameer Farooq</dc:creator>
  <cp:lastModifiedBy>Dr. Sameer Farooq</cp:lastModifiedBy>
  <cp:revision>1</cp:revision>
  <dcterms:created xsi:type="dcterms:W3CDTF">2026-06-09T04:04:54Z</dcterms:created>
  <dcterms:modified xsi:type="dcterms:W3CDTF">2026-06-09T04:04:54Z</dcterms:modified>
</cp:coreProperties>
</file>