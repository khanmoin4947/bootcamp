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100584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0" cy="9144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0584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0116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&amp; Technology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50292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Mangalam University, Gurugram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914400"/>
            <a:ext cx="1554480" cy="29260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914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CS101  ·  SESSION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128016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Orientation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Course Overview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457200" y="2852928"/>
            <a:ext cx="178308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8529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377440" y="2852928"/>
            <a:ext cx="178308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0" y="28529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97680" y="2852928"/>
            <a:ext cx="178308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28529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Installation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3291840"/>
            <a:ext cx="1463040" cy="2743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3319272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68096" y="329184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Session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57200" y="3794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Sameer Farooq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57200" y="411480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 |  Ph.D. Computer Science &amp; Engineering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4389120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·  Cloud-IoT Security  ·  Federated Learning  ·  Privacy-Preserving AI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sameer.farooq.postdoc@outlook.com  |  ORCID: 0000-0001-8651-9011  |  WeChat: drsameerfarooq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058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1874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2578608"/>
            <a:ext cx="1645920" cy="457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697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Sameer Farooq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2971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Technology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Mangalam University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26080" y="182880"/>
            <a:ext cx="5989320" cy="804672"/>
          </a:xfrm>
          <a:prstGeom prst="rect">
            <a:avLst/>
          </a:prstGeom>
          <a:solidFill>
            <a:srgbClr val="F4F7FA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0" y="182880"/>
            <a:ext cx="91440" cy="8046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27248" y="356616"/>
            <a:ext cx="457200" cy="4572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828" y="425196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0752" y="29260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Orientation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730752" y="6217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Objectives · Icebreaker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438912"/>
            <a:ext cx="749808" cy="21945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38160" y="43891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926080" y="1143000"/>
            <a:ext cx="5989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926080" y="1143000"/>
            <a:ext cx="91440" cy="80467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127248" y="1316736"/>
            <a:ext cx="457200" cy="4572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828" y="1385316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30752" y="125272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730752" y="15819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· Grading · Outcomes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138160" y="1399032"/>
            <a:ext cx="749808" cy="21945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138160" y="13990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min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2926080" y="2103120"/>
            <a:ext cx="5989320" cy="804672"/>
          </a:xfrm>
          <a:prstGeom prst="rect">
            <a:avLst/>
          </a:prstGeom>
          <a:solidFill>
            <a:srgbClr val="F4F7FA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926080" y="2103120"/>
            <a:ext cx="91440" cy="80467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127248" y="2276856"/>
            <a:ext cx="457200" cy="457200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828" y="2345436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730752" y="221284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3730752" y="2542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· Control Flow · Functions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8138160" y="2359152"/>
            <a:ext cx="749808" cy="219456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138160" y="235915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min</a:t>
            </a:r>
            <a:endParaRPr lang="en-US" sz="750" dirty="0"/>
          </a:p>
        </p:txBody>
      </p:sp>
      <p:sp>
        <p:nvSpPr>
          <p:cNvPr id="34" name="Shape 28"/>
          <p:cNvSpPr/>
          <p:nvPr/>
        </p:nvSpPr>
        <p:spPr>
          <a:xfrm>
            <a:off x="2926080" y="3063240"/>
            <a:ext cx="5989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2926080" y="3063240"/>
            <a:ext cx="91440" cy="8046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127248" y="3236976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828" y="3305556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730752" y="317296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3730752" y="35021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VS Code · Git · venv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138160" y="3319272"/>
            <a:ext cx="749808" cy="21945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8138160" y="331927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65–85 min</a:t>
            </a:r>
            <a:endParaRPr lang="en-US" sz="750" dirty="0"/>
          </a:p>
        </p:txBody>
      </p:sp>
      <p:sp>
        <p:nvSpPr>
          <p:cNvPr id="42" name="Shape 35"/>
          <p:cNvSpPr/>
          <p:nvPr/>
        </p:nvSpPr>
        <p:spPr>
          <a:xfrm>
            <a:off x="2926080" y="4023360"/>
            <a:ext cx="5989320" cy="804672"/>
          </a:xfrm>
          <a:prstGeom prst="rect">
            <a:avLst/>
          </a:prstGeom>
          <a:solidFill>
            <a:srgbClr val="F4F7FA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2926080" y="4023360"/>
            <a:ext cx="9144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3127248" y="4197096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828" y="4265676"/>
            <a:ext cx="320040" cy="32004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3730752" y="41330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&amp; Wrap-Up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3730752" y="44622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· Assignment · Next session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8138160" y="4279392"/>
            <a:ext cx="749808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8138160" y="427939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85–90 min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463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ORIENTATION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60120" y="4754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B.Tech / BCA / MCA — Year 1, Semester 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6032" y="1024128"/>
            <a:ext cx="2743200" cy="361188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024128"/>
            <a:ext cx="27432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61872" y="1188720"/>
            <a:ext cx="731520" cy="7315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9844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" y="20116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93192" y="24231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Sameer Farooq — Lead Faculty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93192" y="28437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in CS &amp; Engineering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3192" y="32644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Specializations: Cybersecurity, AI, Cloud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93192" y="36850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Mon &amp; Wed, 3–4 PM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93192" y="41056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sameer.farooq.postdoc@outlook.com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163824" y="1024128"/>
            <a:ext cx="2743200" cy="3611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163824" y="1024128"/>
            <a:ext cx="274320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169664" y="1188720"/>
            <a:ext cx="731520" cy="73152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298448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163824" y="20116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Journey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300984" y="24231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4-Year / 3-Year Degree Program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300984" y="28437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Industry-Aligned Curriculum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300984" y="32644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300984" y="36850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&amp; Placement Support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300984" y="41056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Publication Paths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071616" y="1024128"/>
            <a:ext cx="2743200" cy="3611880"/>
          </a:xfrm>
          <a:prstGeom prst="rect">
            <a:avLst/>
          </a:prstGeom>
          <a:solidFill>
            <a:srgbClr val="1B4F72"/>
          </a:solidFill>
          <a:ln w="12700">
            <a:solidFill>
              <a:srgbClr val="D4AC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071616" y="1024128"/>
            <a:ext cx="274320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077456" y="1188720"/>
            <a:ext cx="731520" cy="731520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4" y="1298448"/>
            <a:ext cx="512064" cy="5120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071616" y="20116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Awaits You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208776" y="24231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Computing Lab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208776" y="28437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 &amp; Coding Contests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208776" y="32644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Guest Lectures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208776" y="36850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Contributions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208776" y="41056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Academic Exposure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journey of a thousand lines begins with a single Hello World."  — Dr. Farooq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463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60120" y="4754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CS101: Introduction to Programming — 16-Week Roadmap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Roadmap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508760"/>
            <a:ext cx="8503920" cy="73152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6968" y="1426464"/>
            <a:ext cx="237744" cy="23774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1737360"/>
            <a:ext cx="1371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1737360"/>
            <a:ext cx="13716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7922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21031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Basics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26334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606040" y="1426464"/>
            <a:ext cx="237744" cy="23774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21992" y="1737360"/>
            <a:ext cx="1371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221992" y="1737360"/>
            <a:ext cx="137160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21992" y="17922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221992" y="21031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221992" y="26334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3–6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325112" y="1426464"/>
            <a:ext cx="237744" cy="237744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941064" y="1737360"/>
            <a:ext cx="1371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C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941064" y="1737360"/>
            <a:ext cx="137160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41064" y="17922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941064" y="21031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941064" y="26334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7–10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044184" y="1426464"/>
            <a:ext cx="237744" cy="23774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0136" y="1737360"/>
            <a:ext cx="1371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660136" y="1737360"/>
            <a:ext cx="137160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0136" y="17922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660136" y="21031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Error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660136" y="26334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11–13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763256" y="1426464"/>
            <a:ext cx="237744" cy="23774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79208" y="1737360"/>
            <a:ext cx="1371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379208" y="1737360"/>
            <a:ext cx="13716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79208" y="17922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379208" y="21031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Review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379208" y="26334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14–16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20040" y="3063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320040" y="3429000"/>
            <a:ext cx="73152" cy="3017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" y="34655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Exams (2 × 15%)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794760" y="3465576"/>
            <a:ext cx="548640" cy="23774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794760" y="34655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20040" y="3831336"/>
            <a:ext cx="73152" cy="3017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02920" y="38679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Assignments &amp; Code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794760" y="3867912"/>
            <a:ext cx="548640" cy="23774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794760" y="38679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320040" y="4233672"/>
            <a:ext cx="73152" cy="3017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02920" y="42702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3794760" y="4270248"/>
            <a:ext cx="548640" cy="237744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794760" y="42702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20040" y="4636008"/>
            <a:ext cx="73152" cy="3017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02920" y="46725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Semester Exam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3794760" y="4672584"/>
            <a:ext cx="548640" cy="23774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794760" y="46725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4754880" y="3063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300" dirty="0"/>
          </a:p>
        </p:txBody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447288"/>
            <a:ext cx="256032" cy="256032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5084064" y="34290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debug &amp; run Python programs</a:t>
            </a:r>
            <a:endParaRPr lang="en-US" sz="1050" dirty="0"/>
          </a:p>
        </p:txBody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794760"/>
            <a:ext cx="256032" cy="256032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5084064" y="377647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algorithmic thinking</a:t>
            </a:r>
            <a:endParaRPr lang="en-US" sz="1050" dirty="0"/>
          </a:p>
        </p:txBody>
      </p:sp>
      <p:pic>
        <p:nvPicPr>
          <p:cNvPr id="6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142232"/>
            <a:ext cx="256032" cy="256032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5084064" y="412394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lists, dicts &amp; sets</a:t>
            </a:r>
            <a:endParaRPr lang="en-US" sz="1050" dirty="0"/>
          </a:p>
        </p:txBody>
      </p:sp>
      <p:pic>
        <p:nvPicPr>
          <p:cNvPr id="6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489704"/>
            <a:ext cx="256032" cy="256032"/>
          </a:xfrm>
          <a:prstGeom prst="rect">
            <a:avLst/>
          </a:prstGeom>
        </p:spPr>
      </p:pic>
      <p:sp>
        <p:nvSpPr>
          <p:cNvPr id="64" name="Text 57"/>
          <p:cNvSpPr/>
          <p:nvPr/>
        </p:nvSpPr>
        <p:spPr>
          <a:xfrm>
            <a:off x="5084064" y="447141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 for version control</a:t>
            </a:r>
            <a:endParaRPr lang="en-US" sz="1050" dirty="0"/>
          </a:p>
        </p:txBody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837176"/>
            <a:ext cx="256032" cy="256032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5084064" y="481888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functional mini-project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463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60120" y="4754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 — Core Concepts at a Glance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6032" y="1024128"/>
            <a:ext cx="196596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D4AC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024128"/>
            <a:ext cx="1965960" cy="6400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107899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56032" y="16824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Language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(TIOBE Index 2024)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32304" y="1024128"/>
            <a:ext cx="196596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32304" y="1024128"/>
            <a:ext cx="196596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32304" y="107899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2432304" y="16824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Write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C / Java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08576" y="1024128"/>
            <a:ext cx="196596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08576" y="1024128"/>
            <a:ext cx="1965960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8576" y="107899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608576" y="16824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Available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784848" y="1024128"/>
            <a:ext cx="196596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84848" y="1024128"/>
            <a:ext cx="1965960" cy="640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84848" y="107899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6784848" y="16824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Web · Security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56032" y="24231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You Will Master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56032" y="2788920"/>
            <a:ext cx="425196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93192" y="3108960"/>
            <a:ext cx="438912" cy="43891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9" y="3174797"/>
            <a:ext cx="307238" cy="30723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69264" y="2862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969264" y="31729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int, float, str, bool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969264" y="34015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Type conversion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969264" y="36301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Naming conventions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718304" y="2788920"/>
            <a:ext cx="425196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D4AC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855464" y="3108960"/>
            <a:ext cx="438912" cy="438912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301" y="3174797"/>
            <a:ext cx="307238" cy="30723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431536" y="2862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431536" y="31729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if / elif / else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5431536" y="34015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for &amp; while loops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5431536" y="36301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break, continue, pass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256032" y="3959352"/>
            <a:ext cx="425196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393192" y="4279392"/>
            <a:ext cx="438912" cy="43891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9" y="4345229"/>
            <a:ext cx="307238" cy="30723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69264" y="40325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969264" y="4343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def &amp; return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969264" y="45720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Parameters &amp; scope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969264" y="48006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Lambda expressions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4718304" y="3959352"/>
            <a:ext cx="425196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4855464" y="4279392"/>
            <a:ext cx="438912" cy="43891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301" y="4345229"/>
            <a:ext cx="307238" cy="30723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431536" y="40325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Mindset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5431536" y="4343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Reading error messages</a:t>
            </a:r>
            <a:endParaRPr lang="en-US" sz="950" dirty="0"/>
          </a:p>
        </p:txBody>
      </p:sp>
      <p:sp>
        <p:nvSpPr>
          <p:cNvPr id="50" name="Text 43"/>
          <p:cNvSpPr/>
          <p:nvPr/>
        </p:nvSpPr>
        <p:spPr>
          <a:xfrm>
            <a:off x="5431536" y="45720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Print debugging</a:t>
            </a:r>
            <a:endParaRPr lang="en-US" sz="950" dirty="0"/>
          </a:p>
        </p:txBody>
      </p:sp>
      <p:sp>
        <p:nvSpPr>
          <p:cNvPr id="51" name="Text 44"/>
          <p:cNvSpPr/>
          <p:nvPr/>
        </p:nvSpPr>
        <p:spPr>
          <a:xfrm>
            <a:off x="5431536" y="48006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Syntax vs Logic errors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463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DEMO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60120" y="4754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Python Programs — Type Along!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8600" y="1005840"/>
            <a:ext cx="429768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84048" y="1115568"/>
            <a:ext cx="146304" cy="14630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" y="1115568"/>
            <a:ext cx="146304" cy="14630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1115568"/>
            <a:ext cx="146304" cy="14630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10972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hello_world.py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Hello World Program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5760" y="166420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input("Enter your name: ")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5760" y="195681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= int(input("Enter age: "))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65760" y="224942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5760" y="254203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print(f"Hello, {name}!")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65760" y="28346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print(f"You are {age} years old.")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0" y="1005840"/>
            <a:ext cx="416052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910328" y="1115568"/>
            <a:ext cx="146304" cy="14630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29784" y="1115568"/>
            <a:ext cx="146304" cy="14630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49240" y="1115568"/>
            <a:ext cx="146304" cy="14630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10972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calculator.py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92040" y="137160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 Calculator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1618488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calc(a, b, op):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92040" y="1865376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op == "+": return a + b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211226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op=="-": return a - b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92040" y="235915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return "Invalid"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92040" y="260604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92040" y="2852928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calc(10, 5, "+")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892040" y="3099816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print(r)   # Output: 15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28600" y="3429000"/>
            <a:ext cx="4297680" cy="1417320"/>
          </a:xfrm>
          <a:prstGeom prst="rect">
            <a:avLst/>
          </a:prstGeom>
          <a:solidFill>
            <a:srgbClr val="00000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34930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5760" y="373075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hello_world.py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65760" y="3941064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name: Sameer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65760" y="415137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age: 35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65760" y="436168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Sameer!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65760" y="457200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35 years old.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754880" y="3429000"/>
            <a:ext cx="416052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92040" y="3493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20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785616"/>
            <a:ext cx="182880" cy="18288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138928" y="3776472"/>
            <a:ext cx="3657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returns a string — always convert types</a:t>
            </a:r>
            <a:endParaRPr lang="en-US" sz="95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995928"/>
            <a:ext cx="182880" cy="18288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138928" y="3986784"/>
            <a:ext cx="3657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 / float() cast to numbers</a:t>
            </a:r>
            <a:endParaRPr lang="en-US" sz="95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206240"/>
            <a:ext cx="182880" cy="18288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138928" y="4197096"/>
            <a:ext cx="3657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f-strings: f"Hello, {variable}"</a:t>
            </a:r>
            <a:endParaRPr lang="en-US" sz="95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416552"/>
            <a:ext cx="182880" cy="18288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138928" y="4407408"/>
            <a:ext cx="3657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creates reusable functions</a:t>
            </a:r>
            <a:endParaRPr lang="en-US" sz="95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626864"/>
            <a:ext cx="182880" cy="18288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5138928" y="4617720"/>
            <a:ext cx="3657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if/elif/else controls program flow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463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&amp; TOOL INSTALLATION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60120" y="4754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professional development environment — step by step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01168" y="1024128"/>
            <a:ext cx="4279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024128"/>
            <a:ext cx="4279392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" y="1152144"/>
            <a:ext cx="475488" cy="47548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1170432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3.12+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" y="1600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Visit python.org/downloads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65760" y="1874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Run installer — check Add to PATH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5760" y="2148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Verify: python --version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5760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Check: pip --version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633472"/>
            <a:ext cx="3931920" cy="182880"/>
          </a:xfrm>
          <a:prstGeom prst="rect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9768" y="2633472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   →   Python 3.12.x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700016" y="1024128"/>
            <a:ext cx="4279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C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00016" y="1024128"/>
            <a:ext cx="4279392" cy="6400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28032" y="1152144"/>
            <a:ext cx="475488" cy="475488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28032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170432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870448" y="1170432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864608" y="1600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Download from code.visualstudio.com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864608" y="1874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Install Python extension (Microsoft)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864608" y="2148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Install Pylance &amp; Pylint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64608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Set interpreter: Ctrl+Shift+P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864608" y="2633472"/>
            <a:ext cx="3931920" cy="182880"/>
          </a:xfrm>
          <a:prstGeom prst="rect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928616" y="2633472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Extensions: Python, Pylance, GitLens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201168" y="3017520"/>
            <a:ext cx="4279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20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201168" y="3017520"/>
            <a:ext cx="4279392" cy="64008"/>
          </a:xfrm>
          <a:prstGeom prst="rect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29184" y="3145536"/>
            <a:ext cx="475488" cy="475488"/>
          </a:xfrm>
          <a:prstGeom prst="ellipse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29184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63824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371600" y="3163824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Setup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365760" y="35935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Download from git-scm.com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365760" y="38679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git config --global user.name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365760" y="4142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git config --global user.email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365760" y="4416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Create GitHub account &amp; SSH key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365760" y="4626864"/>
            <a:ext cx="3931920" cy="182880"/>
          </a:xfrm>
          <a:prstGeom prst="rect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29768" y="4626864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   →   git version 2.x.x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4700016" y="3017520"/>
            <a:ext cx="4279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4700016" y="3017520"/>
            <a:ext cx="4279392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4828032" y="3145536"/>
            <a:ext cx="475488" cy="47548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828032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3163824"/>
            <a:ext cx="365760" cy="36576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870448" y="3163824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4864608" y="35935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python -m venv myenv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4864608" y="38679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Activate: myenv\Scripts\activate</a:t>
            </a:r>
            <a:endParaRPr lang="en-US" sz="1000" dirty="0"/>
          </a:p>
        </p:txBody>
      </p:sp>
      <p:sp>
        <p:nvSpPr>
          <p:cNvPr id="51" name="Text 44"/>
          <p:cNvSpPr/>
          <p:nvPr/>
        </p:nvSpPr>
        <p:spPr>
          <a:xfrm>
            <a:off x="4864608" y="4142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pip install numpy pandas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4864608" y="4416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pip freeze &gt; requirements.txt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4864608" y="4626864"/>
            <a:ext cx="3931920" cy="182880"/>
          </a:xfrm>
          <a:prstGeom prst="rect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4928616" y="4626864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(myenv)  user@pc:~$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463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YOUR CODING COCKPIT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60120" y="4754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essential features every beginner must know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01168" y="987552"/>
            <a:ext cx="2834640" cy="1883664"/>
          </a:xfrm>
          <a:prstGeom prst="rect">
            <a:avLst/>
          </a:prstGeom>
          <a:solidFill>
            <a:srgbClr val="252537"/>
          </a:solidFill>
          <a:ln w="12700">
            <a:solidFill>
              <a:srgbClr val="569C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987552"/>
            <a:ext cx="2834640" cy="64008"/>
          </a:xfrm>
          <a:prstGeom prst="rect">
            <a:avLst/>
          </a:prstGeom>
          <a:solidFill>
            <a:srgbClr val="569CD6"/>
          </a:solidFill>
          <a:ln w="12700">
            <a:solidFill>
              <a:srgbClr val="569C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25296" y="1170432"/>
            <a:ext cx="749808" cy="749808"/>
          </a:xfrm>
          <a:prstGeom prst="ellipse">
            <a:avLst/>
          </a:prstGeom>
          <a:solidFill>
            <a:srgbClr val="569CD6"/>
          </a:solidFill>
          <a:ln w="12700">
            <a:solidFill>
              <a:srgbClr val="569CD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767" y="1282903"/>
            <a:ext cx="524866" cy="5248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2608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IntelliSense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10896" y="23408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Auto-complete, hints &amp; docs as you type. Press Ctrl+Space.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172968" y="987552"/>
            <a:ext cx="2834640" cy="1883664"/>
          </a:xfrm>
          <a:prstGeom prst="rect">
            <a:avLst/>
          </a:prstGeom>
          <a:solidFill>
            <a:srgbClr val="252537"/>
          </a:solidFill>
          <a:ln w="12700">
            <a:solidFill>
              <a:srgbClr val="27C9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72968" y="987552"/>
            <a:ext cx="2834640" cy="64008"/>
          </a:xfrm>
          <a:prstGeom prst="rect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197096" y="1170432"/>
            <a:ext cx="749808" cy="74980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567" y="1282903"/>
            <a:ext cx="524866" cy="5248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64408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C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Terminal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282696" y="23408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Python scripts without leaving the editor.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144768" y="987552"/>
            <a:ext cx="2834640" cy="1883664"/>
          </a:xfrm>
          <a:prstGeom prst="rect">
            <a:avLst/>
          </a:prstGeom>
          <a:solidFill>
            <a:srgbClr val="252537"/>
          </a:solidFill>
          <a:ln w="12700">
            <a:solidFill>
              <a:srgbClr val="F14C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44768" y="987552"/>
            <a:ext cx="2834640" cy="64008"/>
          </a:xfrm>
          <a:prstGeom prst="rect">
            <a:avLst/>
          </a:prstGeom>
          <a:solidFill>
            <a:srgbClr val="F14C4C"/>
          </a:solidFill>
          <a:ln w="12700">
            <a:solidFill>
              <a:srgbClr val="F14C4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68896" y="1170432"/>
            <a:ext cx="749808" cy="749808"/>
          </a:xfrm>
          <a:prstGeom prst="ellipse">
            <a:avLst/>
          </a:prstGeom>
          <a:solidFill>
            <a:srgbClr val="F14C4C"/>
          </a:solidFill>
          <a:ln w="12700">
            <a:solidFill>
              <a:srgbClr val="F14C4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367" y="1282903"/>
            <a:ext cx="524866" cy="5248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36208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254496" y="23408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Breakpoints, step-through, variable inspection. Press F5.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201168" y="3054096"/>
            <a:ext cx="2834640" cy="1883664"/>
          </a:xfrm>
          <a:prstGeom prst="rect">
            <a:avLst/>
          </a:prstGeom>
          <a:solidFill>
            <a:srgbClr val="252537"/>
          </a:solidFill>
          <a:ln w="12700">
            <a:solidFill>
              <a:srgbClr val="C586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01168" y="3054096"/>
            <a:ext cx="2834640" cy="64008"/>
          </a:xfrm>
          <a:prstGeom prst="rect">
            <a:avLst/>
          </a:prstGeom>
          <a:solidFill>
            <a:srgbClr val="C586C0"/>
          </a:solidFill>
          <a:ln w="12700">
            <a:solidFill>
              <a:srgbClr val="C586C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225296" y="3236976"/>
            <a:ext cx="749808" cy="749808"/>
          </a:xfrm>
          <a:prstGeom prst="ellipse">
            <a:avLst/>
          </a:prstGeom>
          <a:solidFill>
            <a:srgbClr val="C586C0"/>
          </a:solidFill>
          <a:ln w="12700">
            <a:solidFill>
              <a:srgbClr val="C586C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767" y="3349447"/>
            <a:ext cx="524866" cy="52486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92608" y="4078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Source Control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10896" y="440740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Commit, push &amp; pull from the sidebar panel.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172968" y="3054096"/>
            <a:ext cx="2834640" cy="1883664"/>
          </a:xfrm>
          <a:prstGeom prst="rect">
            <a:avLst/>
          </a:prstGeom>
          <a:solidFill>
            <a:srgbClr val="252537"/>
          </a:solidFill>
          <a:ln w="12700">
            <a:solidFill>
              <a:srgbClr val="FFBD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172968" y="3054096"/>
            <a:ext cx="2834640" cy="64008"/>
          </a:xfrm>
          <a:prstGeom prst="rect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197096" y="3236976"/>
            <a:ext cx="749808" cy="74980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9567" y="3349447"/>
            <a:ext cx="524866" cy="52486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264408" y="4078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Marketplace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3282696" y="440740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Pylance, GitLens — Ctrl+Shift+X.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6144768" y="3054096"/>
            <a:ext cx="2834640" cy="1883664"/>
          </a:xfrm>
          <a:prstGeom prst="rect">
            <a:avLst/>
          </a:prstGeom>
          <a:solidFill>
            <a:srgbClr val="252537"/>
          </a:solidFill>
          <a:ln w="12700">
            <a:solidFill>
              <a:srgbClr val="4EC9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144768" y="3054096"/>
            <a:ext cx="2834640" cy="64008"/>
          </a:xfrm>
          <a:prstGeom prst="rect">
            <a:avLst/>
          </a:prstGeom>
          <a:solidFill>
            <a:srgbClr val="4EC9B0"/>
          </a:solidFill>
          <a:ln w="12700">
            <a:solidFill>
              <a:srgbClr val="4EC9B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168896" y="3236976"/>
            <a:ext cx="749808" cy="749808"/>
          </a:xfrm>
          <a:prstGeom prst="ellipse">
            <a:avLst/>
          </a:prstGeom>
          <a:solidFill>
            <a:srgbClr val="4EC9B0"/>
          </a:solidFill>
          <a:ln w="12700">
            <a:solidFill>
              <a:srgbClr val="4EC9B0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1367" y="3349447"/>
            <a:ext cx="524866" cy="52486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236208" y="4078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Share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6254496" y="440740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Pair-program with classmates in real-time.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Ctrl+S  Save   |   F5  Debug   |   Ctrl+`  Terminal   |   Ctrl+Z  Undo   |   Ctrl+Shift+P  Command Palette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463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VERSION CONTROL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60120" y="4754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changes, collaborate, never lose code — the developer's superpower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28600" y="1353312"/>
            <a:ext cx="1828800" cy="87782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" y="1353312"/>
            <a:ext cx="1828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057400" y="1719072"/>
            <a:ext cx="402336" cy="10972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7400" y="184708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459736" y="1353312"/>
            <a:ext cx="1828800" cy="877824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59736" y="1353312"/>
            <a:ext cx="1828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88536" y="1719072"/>
            <a:ext cx="402336" cy="10972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88536" y="184708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690872" y="1353312"/>
            <a:ext cx="1828800" cy="87782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90872" y="1353312"/>
            <a:ext cx="1828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19672" y="1719072"/>
            <a:ext cx="402336" cy="10972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9672" y="184708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922008" y="1353312"/>
            <a:ext cx="1828800" cy="8778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922008" y="1353312"/>
            <a:ext cx="1828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20040" y="2359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Commands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0040" y="2706624"/>
            <a:ext cx="4315968" cy="438912"/>
          </a:xfrm>
          <a:prstGeom prst="rect">
            <a:avLst/>
          </a:prstGeom>
          <a:solidFill>
            <a:srgbClr val="EAF4FB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0040" y="2706624"/>
            <a:ext cx="73152" cy="43891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" y="27797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560320" y="277977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a new repository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818888" y="2706624"/>
            <a:ext cx="4315968" cy="438912"/>
          </a:xfrm>
          <a:prstGeom prst="rect">
            <a:avLst/>
          </a:prstGeom>
          <a:solidFill>
            <a:srgbClr val="EAFA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18888" y="2706624"/>
            <a:ext cx="73152" cy="43891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83480" y="27797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059168" y="277977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repository from GitHub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20040" y="3218688"/>
            <a:ext cx="4315968" cy="438912"/>
          </a:xfrm>
          <a:prstGeom prst="rect">
            <a:avLst/>
          </a:prstGeom>
          <a:solidFill>
            <a:srgbClr val="EAF4FB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0040" y="3218688"/>
            <a:ext cx="73152" cy="43891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560320" y="32918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changed files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818888" y="3218688"/>
            <a:ext cx="4315968" cy="438912"/>
          </a:xfrm>
          <a:prstGeom prst="rect">
            <a:avLst/>
          </a:prstGeom>
          <a:solidFill>
            <a:srgbClr val="EAFA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18888" y="3218688"/>
            <a:ext cx="73152" cy="43891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8348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059168" y="32918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with a message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20040" y="3730752"/>
            <a:ext cx="4315968" cy="438912"/>
          </a:xfrm>
          <a:prstGeom prst="rect">
            <a:avLst/>
          </a:prstGeom>
          <a:solidFill>
            <a:srgbClr val="EAF4FB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20040" y="3730752"/>
            <a:ext cx="73152" cy="43891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4632" y="38039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2560320" y="3803904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commits to GitHub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818888" y="3730752"/>
            <a:ext cx="4315968" cy="438912"/>
          </a:xfrm>
          <a:prstGeom prst="rect">
            <a:avLst/>
          </a:prstGeom>
          <a:solidFill>
            <a:srgbClr val="EAFA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818888" y="3730752"/>
            <a:ext cx="73152" cy="43891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983480" y="38039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059168" y="3803904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merge remote changes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320040" y="4242816"/>
            <a:ext cx="4315968" cy="438912"/>
          </a:xfrm>
          <a:prstGeom prst="rect">
            <a:avLst/>
          </a:prstGeom>
          <a:solidFill>
            <a:srgbClr val="EAF4FB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20040" y="4242816"/>
            <a:ext cx="73152" cy="43891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84632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2560320" y="431596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has changed locally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4818888" y="4242816"/>
            <a:ext cx="4315968" cy="438912"/>
          </a:xfrm>
          <a:prstGeom prst="rect">
            <a:avLst/>
          </a:prstGeom>
          <a:solidFill>
            <a:srgbClr val="EAFA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818888" y="4242816"/>
            <a:ext cx="73152" cy="43891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983480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059168" y="431596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compact commit history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82312"/>
            <a:ext cx="201168" cy="201168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640080" y="4773168"/>
            <a:ext cx="8092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Commit often with clear messages. Think: "What would future-me need to know?"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201168"/>
            <a:ext cx="402336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2011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ACTIVITY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Type-Along Challenge!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Code  →  New File  →  Save as  my_intro.py  →  Type &amp; Run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1719072"/>
            <a:ext cx="6583680" cy="2450592"/>
          </a:xfrm>
          <a:prstGeom prst="rect">
            <a:avLst/>
          </a:prstGeom>
          <a:solidFill>
            <a:srgbClr val="0D1117"/>
          </a:solidFill>
          <a:ln w="12700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18288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my_intro.py  — fill in your details and run!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21031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3774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my_name  = "Your Name Here"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6517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my_dept  = "CSE / BCA / MCA"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29260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my_hobby = "Coding / Gaming / Music"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32004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34747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print(f"Hello! I am {my_name} from {my_dept}.")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37490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print(f"I enjoy {my_hobby}. Let's code!")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793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 →  Share your output with the class!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626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You have 5 minutes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463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 &amp; NEXT STEPS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60120" y="4754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today — and what is coming next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6032" y="100584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005840"/>
            <a:ext cx="91440" cy="8229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12573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Orientation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78992" y="14081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structure, faculty contacts, lab rules &amp; assessment policy are now clear.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56032" y="1956816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56032" y="1956816"/>
            <a:ext cx="91440" cy="8229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2139696"/>
            <a:ext cx="457200" cy="4572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20827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8992" y="20482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78992" y="23591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16-week roadmap, 5 modules, grading breakdown &amp; learning outcomes.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56032" y="2907792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C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56032" y="2907792"/>
            <a:ext cx="91440" cy="82296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090672"/>
            <a:ext cx="457200" cy="457200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" y="315925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78992" y="29992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78992" y="33101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control flow &amp; functions — foundations are set.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56032" y="3858768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56032" y="3858768"/>
            <a:ext cx="91440" cy="8229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7200" y="4041648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" y="4110228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78992" y="3950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78992" y="426110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VS Code, Git &amp; virtual environments installed &amp; configured.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80760" y="1005840"/>
            <a:ext cx="2834640" cy="2487168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80760" y="1005840"/>
            <a:ext cx="2834640" cy="9144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08076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2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1481328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492240" y="1481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Tuples</a:t>
            </a:r>
            <a:endParaRPr lang="en-US" sz="105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1865376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92240" y="1865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&amp; Sets</a:t>
            </a:r>
            <a:endParaRPr lang="en-US" sz="105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2249424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492240" y="2249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Manipulation</a:t>
            </a:r>
            <a:endParaRPr lang="en-US" sz="10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9632" y="2633472"/>
            <a:ext cx="201168" cy="2011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492240" y="2633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Basics</a:t>
            </a:r>
            <a:endParaRPr lang="en-US" sz="105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9632" y="3017520"/>
            <a:ext cx="201168" cy="20116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49224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050" dirty="0"/>
          </a:p>
        </p:txBody>
      </p:sp>
      <p:sp>
        <p:nvSpPr>
          <p:cNvPr id="44" name="Shape 32"/>
          <p:cNvSpPr/>
          <p:nvPr/>
        </p:nvSpPr>
        <p:spPr>
          <a:xfrm>
            <a:off x="6080760" y="3584448"/>
            <a:ext cx="2834640" cy="1298448"/>
          </a:xfrm>
          <a:prstGeom prst="rect">
            <a:avLst/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6144768" y="3639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ASSIGNMENT #1</a:t>
            </a:r>
            <a:endParaRPr lang="en-US" sz="1100" dirty="0"/>
          </a:p>
        </p:txBody>
      </p:sp>
      <p:sp>
        <p:nvSpPr>
          <p:cNvPr id="46" name="Text 34"/>
          <p:cNvSpPr/>
          <p:nvPr/>
        </p:nvSpPr>
        <p:spPr>
          <a:xfrm>
            <a:off x="6144768" y="39684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Setup env → submit screenshot</a:t>
            </a:r>
            <a:endParaRPr lang="en-US" sz="950" dirty="0"/>
          </a:p>
        </p:txBody>
      </p:sp>
      <p:sp>
        <p:nvSpPr>
          <p:cNvPr id="47" name="Text 35"/>
          <p:cNvSpPr/>
          <p:nvPr/>
        </p:nvSpPr>
        <p:spPr>
          <a:xfrm>
            <a:off x="6144768" y="42428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 a bio-generator program</a:t>
            </a:r>
            <a:endParaRPr lang="en-US" sz="950" dirty="0"/>
          </a:p>
        </p:txBody>
      </p:sp>
      <p:sp>
        <p:nvSpPr>
          <p:cNvPr id="48" name="Text 36"/>
          <p:cNvSpPr/>
          <p:nvPr/>
        </p:nvSpPr>
        <p:spPr>
          <a:xfrm>
            <a:off x="6144768" y="45171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Push to GitHub (first commit!)</a:t>
            </a:r>
            <a:endParaRPr lang="en-US" sz="950" dirty="0"/>
          </a:p>
        </p:txBody>
      </p:sp>
      <p:sp>
        <p:nvSpPr>
          <p:cNvPr id="49" name="Shape 3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Sameer Farooq  |  School of Engineering &amp; Technology  |  KR Mangalam University  |  sameer.farooq.postdoc@outlook.com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3657600" cy="36576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088" y="41148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3898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22128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Curiosity?  Let's discuss!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560320" y="2724912"/>
            <a:ext cx="402336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852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Sameer Farooq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23697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&amp; Technology, KR Mangalam University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6210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sameer.farooq.postdoc@outlook.com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0050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WeChat: drsameerfarooq   |   ORCID: 0000-0001-8651-9011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08960" y="4572000"/>
            <a:ext cx="2926080" cy="32918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08960" y="45720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CS101 — Session 01 of 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 Program Orientation</dc:title>
  <dc:subject>PptxGenJS Presentation</dc:subject>
  <dc:creator>Dr. Sameer Farooq</dc:creator>
  <cp:lastModifiedBy>Dr. Sameer Farooq</cp:lastModifiedBy>
  <cp:revision>1</cp:revision>
  <dcterms:created xsi:type="dcterms:W3CDTF">2026-06-08T06:08:18Z</dcterms:created>
  <dcterms:modified xsi:type="dcterms:W3CDTF">2026-06-08T06:08:18Z</dcterms:modified>
</cp:coreProperties>
</file>